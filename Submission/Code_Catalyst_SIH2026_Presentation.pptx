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26" userDrawn="1">
          <p15:clr>
            <a:srgbClr val="A4A3A4"/>
          </p15:clr>
        </p15:guide>
        <p15:guide id="2" pos="67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7272"/>
    <a:srgbClr val="9BBB59"/>
    <a:srgbClr val="39B0D4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1DC4B9-80DC-4296-BE96-81BDE13DC195}" v="3" dt="2026-09-09T21:44:34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3226"/>
        <p:guide pos="674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90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ducation.gov.in/sites/upload_files/mhrd/files/nep/ABSS_2024_Outcome_Document.pdf?utm_source=chatgpt.com" TargetMode="External"/><Relationship Id="rId3" Type="http://schemas.openxmlformats.org/officeDocument/2006/relationships/hyperlink" Target="https://www.education.gov.in/sites/upload_files/mhrd/files/NEP_Final_English_0.pdf?utm_source=chatgpt.com" TargetMode="External"/><Relationship Id="rId7" Type="http://schemas.openxmlformats.org/officeDocument/2006/relationships/hyperlink" Target="https://www.ilo.org/publications/major-publications/global-employment-trends-youth-202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lo.org/publications/india-employment-report-2024-youth-employment-education-and-skills" TargetMode="External"/><Relationship Id="rId5" Type="http://schemas.openxmlformats.org/officeDocument/2006/relationships/hyperlink" Target="https://www.education.gov.in/sites/upload_files/mhrd/files/nep/ABSS_Brochure_2022.pdf" TargetMode="External"/><Relationship Id="rId4" Type="http://schemas.openxmlformats.org/officeDocument/2006/relationships/hyperlink" Target="https://www.ayush.gov.in/?utm_source=chatgpt.com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008306" cy="4161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SIH26044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Portal For Academia – Industrial collaboration for Skill Mapping, Internships and Placements.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 - 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Name(Registered on portal) – Code Catalyst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E03994-2E61-00F8-8011-63340F601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8013" y="126288"/>
            <a:ext cx="1868357" cy="8573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3" y="111394"/>
            <a:ext cx="10972800" cy="445844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83760"/>
            <a:ext cx="13515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Catalyst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E0026-E171-B04A-692D-C9F0599904A0}"/>
              </a:ext>
            </a:extLst>
          </p:cNvPr>
          <p:cNvSpPr txBox="1"/>
          <p:nvPr/>
        </p:nvSpPr>
        <p:spPr>
          <a:xfrm>
            <a:off x="2600632" y="1023997"/>
            <a:ext cx="8205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AYUSH </a:t>
            </a:r>
            <a:r>
              <a:rPr lang="en-IN" sz="2000" b="1" dirty="0" err="1">
                <a:solidFill>
                  <a:srgbClr val="002060"/>
                </a:solidFill>
              </a:rPr>
              <a:t>SkillBridge</a:t>
            </a:r>
            <a:r>
              <a:rPr lang="en-IN" sz="2000" b="1" dirty="0">
                <a:solidFill>
                  <a:srgbClr val="002060"/>
                </a:solidFill>
              </a:rPr>
              <a:t> </a:t>
            </a:r>
            <a:r>
              <a:rPr lang="en-IN" sz="2000" b="1" dirty="0"/>
              <a:t>– AI-Powered Academia–Industry Collaboration 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003FD4-57A3-CE62-55B9-8594DBAE9927}"/>
              </a:ext>
            </a:extLst>
          </p:cNvPr>
          <p:cNvSpPr txBox="1"/>
          <p:nvPr/>
        </p:nvSpPr>
        <p:spPr>
          <a:xfrm>
            <a:off x="570271" y="1632155"/>
            <a:ext cx="113464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Proposed Solution </a:t>
            </a:r>
            <a:r>
              <a:rPr lang="en-IN" b="1" dirty="0"/>
              <a:t>: AYUSH </a:t>
            </a:r>
            <a:r>
              <a:rPr lang="en-IN" b="1" dirty="0" err="1"/>
              <a:t>SkillBridge</a:t>
            </a:r>
            <a:r>
              <a:rPr lang="en-IN" b="1" dirty="0"/>
              <a:t> is an AI-powered platform that connects students, colleges, and industries. It performs skill mapping, identifies skill gaps, recommends courses, and provides internship and placement opportunities through a single portal.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54642A-F87B-E7EB-3819-E61B597DCC90}"/>
              </a:ext>
            </a:extLst>
          </p:cNvPr>
          <p:cNvSpPr txBox="1"/>
          <p:nvPr/>
        </p:nvSpPr>
        <p:spPr>
          <a:xfrm>
            <a:off x="7325427" y="2745999"/>
            <a:ext cx="422787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Innovation and uniqueness of the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42DB32-4BAB-99A7-45EF-AFF048D7CDAF}"/>
              </a:ext>
            </a:extLst>
          </p:cNvPr>
          <p:cNvSpPr txBox="1"/>
          <p:nvPr/>
        </p:nvSpPr>
        <p:spPr>
          <a:xfrm>
            <a:off x="683340" y="2759164"/>
            <a:ext cx="422787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How it addresses the problem</a:t>
            </a:r>
          </a:p>
        </p:txBody>
      </p:sp>
      <p:pic>
        <p:nvPicPr>
          <p:cNvPr id="16" name="Graphic 15" descr="Books with solid fill">
            <a:extLst>
              <a:ext uri="{FF2B5EF4-FFF2-40B4-BE49-F238E27FC236}">
                <a16:creationId xmlns:a16="http://schemas.microsoft.com/office/drawing/2014/main" id="{6C9721D2-3969-D6B5-49E3-F8DFC36568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5086" y="2697243"/>
            <a:ext cx="511277" cy="511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AB31D5E-3D03-7ABB-2786-A84164BE50BF}"/>
              </a:ext>
            </a:extLst>
          </p:cNvPr>
          <p:cNvSpPr/>
          <p:nvPr/>
        </p:nvSpPr>
        <p:spPr>
          <a:xfrm>
            <a:off x="658759" y="3319501"/>
            <a:ext cx="1296221" cy="167394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Connects students, faculty, and industry.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82390F-68E9-68C8-B699-7CEE345263D9}"/>
              </a:ext>
            </a:extLst>
          </p:cNvPr>
          <p:cNvSpPr/>
          <p:nvPr/>
        </p:nvSpPr>
        <p:spPr>
          <a:xfrm>
            <a:off x="4065840" y="4517268"/>
            <a:ext cx="1335277" cy="167394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Helps industries find skilled candidates.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FFB8AC-E141-5244-D8B8-A388E5B440E3}"/>
              </a:ext>
            </a:extLst>
          </p:cNvPr>
          <p:cNvSpPr/>
          <p:nvPr/>
        </p:nvSpPr>
        <p:spPr>
          <a:xfrm>
            <a:off x="2927556" y="3301398"/>
            <a:ext cx="1492044" cy="167394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Simplifies internships and placements.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A6BADD-6BF7-6B1F-8A33-F167B3BC3C2B}"/>
              </a:ext>
            </a:extLst>
          </p:cNvPr>
          <p:cNvSpPr/>
          <p:nvPr/>
        </p:nvSpPr>
        <p:spPr>
          <a:xfrm>
            <a:off x="7186259" y="3327323"/>
            <a:ext cx="1335277" cy="167394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AI-based skill gap analysis.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FE14A7-E7BE-5E6C-67FB-0B2A524F9D81}"/>
              </a:ext>
            </a:extLst>
          </p:cNvPr>
          <p:cNvSpPr/>
          <p:nvPr/>
        </p:nvSpPr>
        <p:spPr>
          <a:xfrm>
            <a:off x="10524040" y="4517268"/>
            <a:ext cx="1557065" cy="167394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Industry-driven curriculum improvement.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898EC2-2CCA-E5C2-D268-D3163839F67B}"/>
              </a:ext>
            </a:extLst>
          </p:cNvPr>
          <p:cNvSpPr/>
          <p:nvPr/>
        </p:nvSpPr>
        <p:spPr>
          <a:xfrm>
            <a:off x="9470375" y="3301398"/>
            <a:ext cx="1335277" cy="167394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One platform for students, faculty, and industry.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2227CD-DCF2-E28B-F2DC-F67B977935A4}"/>
              </a:ext>
            </a:extLst>
          </p:cNvPr>
          <p:cNvSpPr/>
          <p:nvPr/>
        </p:nvSpPr>
        <p:spPr>
          <a:xfrm>
            <a:off x="8328317" y="4517268"/>
            <a:ext cx="1335277" cy="167394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Smart job and internship recommend-</a:t>
            </a:r>
            <a:r>
              <a:rPr lang="en-IN" dirty="0" err="1"/>
              <a:t>ations</a:t>
            </a:r>
            <a:r>
              <a:rPr lang="en-IN" dirty="0"/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32F83F-87AE-0248-02AD-B1A269773A2B}"/>
              </a:ext>
            </a:extLst>
          </p:cNvPr>
          <p:cNvSpPr/>
          <p:nvPr/>
        </p:nvSpPr>
        <p:spPr>
          <a:xfrm>
            <a:off x="1797043" y="4517268"/>
            <a:ext cx="1319958" cy="167394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Improves skills according to industry needs.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38FB616-248B-9F1C-4094-698669AD4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8013" y="126288"/>
            <a:ext cx="1868357" cy="857341"/>
          </a:xfrm>
          <a:prstGeom prst="rect">
            <a:avLst/>
          </a:prstGeom>
        </p:spPr>
      </p:pic>
      <p:pic>
        <p:nvPicPr>
          <p:cNvPr id="34" name="Graphic 33" descr="Question mark with solid fill">
            <a:extLst>
              <a:ext uri="{FF2B5EF4-FFF2-40B4-BE49-F238E27FC236}">
                <a16:creationId xmlns:a16="http://schemas.microsoft.com/office/drawing/2014/main" id="{C53613BE-E2A8-09B4-17D2-807304D39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73974" y="2809748"/>
            <a:ext cx="286266" cy="2862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788655-454B-5588-C07A-F159236DFF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283" y="1023997"/>
            <a:ext cx="1696065" cy="3743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54140-CB48-B2E5-8B3C-19E302AE5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013" y="126288"/>
            <a:ext cx="1868357" cy="857341"/>
          </a:xfrm>
          <a:prstGeom prst="rect">
            <a:avLst/>
          </a:prstGeom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C66A2476-E91D-9EE5-CA45-C0415B2C9CF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15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Catalyst</a:t>
            </a:r>
            <a:endParaRPr lang="en-IN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6AF970F-E584-507A-A548-1F4279BAC3C1}"/>
              </a:ext>
            </a:extLst>
          </p:cNvPr>
          <p:cNvSpPr/>
          <p:nvPr/>
        </p:nvSpPr>
        <p:spPr>
          <a:xfrm>
            <a:off x="1922701" y="2641115"/>
            <a:ext cx="2330245" cy="136668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TECHNOLOGIES TO BE USED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2B9A859-91FB-AC03-EBC8-AA3AC74C3877}"/>
              </a:ext>
            </a:extLst>
          </p:cNvPr>
          <p:cNvSpPr/>
          <p:nvPr/>
        </p:nvSpPr>
        <p:spPr>
          <a:xfrm>
            <a:off x="3251184" y="1194915"/>
            <a:ext cx="1696065" cy="140401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Backend:</a:t>
            </a:r>
            <a:r>
              <a:rPr lang="en-IN" sz="1600" dirty="0">
                <a:solidFill>
                  <a:schemeClr val="tx1"/>
                </a:solidFill>
              </a:rPr>
              <a:t> Node.js + Express.js / REST APIs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CC63855-A0F8-3B6A-AE18-188D03F08A3A}"/>
              </a:ext>
            </a:extLst>
          </p:cNvPr>
          <p:cNvSpPr/>
          <p:nvPr/>
        </p:nvSpPr>
        <p:spPr>
          <a:xfrm>
            <a:off x="4513996" y="2364196"/>
            <a:ext cx="1696065" cy="148838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</a:rPr>
              <a:t>Deployment:</a:t>
            </a:r>
            <a:r>
              <a:rPr lang="en-IN" sz="1600">
                <a:solidFill>
                  <a:schemeClr val="tx1"/>
                </a:solidFill>
              </a:rPr>
              <a:t> Cloud-based scalable architecture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CB2B23A-120A-15B2-2054-033EB60C7DDB}"/>
              </a:ext>
            </a:extLst>
          </p:cNvPr>
          <p:cNvSpPr/>
          <p:nvPr/>
        </p:nvSpPr>
        <p:spPr>
          <a:xfrm>
            <a:off x="3837871" y="3852582"/>
            <a:ext cx="1796013" cy="15383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chemeClr val="tx1"/>
                </a:solidFill>
              </a:rPr>
              <a:t>Integration:</a:t>
            </a:r>
            <a:r>
              <a:rPr lang="en-IN" sz="1400">
                <a:solidFill>
                  <a:schemeClr val="tx1"/>
                </a:solidFill>
              </a:rPr>
              <a:t> Job &amp; internship APIs, learning/certification platforms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58D6B53-2993-2BB4-4EC9-145A365CAA1E}"/>
              </a:ext>
            </a:extLst>
          </p:cNvPr>
          <p:cNvSpPr/>
          <p:nvPr/>
        </p:nvSpPr>
        <p:spPr>
          <a:xfrm>
            <a:off x="2067112" y="4267302"/>
            <a:ext cx="1696065" cy="153837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Authentication:</a:t>
            </a:r>
            <a:r>
              <a:rPr lang="en-IN" sz="1200" dirty="0">
                <a:solidFill>
                  <a:schemeClr val="tx1"/>
                </a:solidFill>
              </a:rPr>
              <a:t> Role-Based Access Control (Student / Industry / Faculty / Admin)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4EBCDED-49D0-D8E5-9125-18C151F6BBBB}"/>
              </a:ext>
            </a:extLst>
          </p:cNvPr>
          <p:cNvSpPr/>
          <p:nvPr/>
        </p:nvSpPr>
        <p:spPr>
          <a:xfrm>
            <a:off x="1446805" y="1133873"/>
            <a:ext cx="1696065" cy="140401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</a:rPr>
              <a:t>Frontend:</a:t>
            </a:r>
            <a:r>
              <a:rPr lang="en-IN" sz="1600">
                <a:solidFill>
                  <a:schemeClr val="tx1"/>
                </a:solidFill>
              </a:rPr>
              <a:t> React.js / HTML, CSS, JavaScript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05BE5B9-D331-0A4D-A692-B6989C630EC5}"/>
              </a:ext>
            </a:extLst>
          </p:cNvPr>
          <p:cNvSpPr/>
          <p:nvPr/>
        </p:nvSpPr>
        <p:spPr>
          <a:xfrm>
            <a:off x="118322" y="2242113"/>
            <a:ext cx="1696065" cy="140401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chemeClr val="tx1"/>
                </a:solidFill>
              </a:rPr>
              <a:t>Database:</a:t>
            </a:r>
            <a:r>
              <a:rPr lang="en-IN" sz="1600">
                <a:solidFill>
                  <a:schemeClr val="tx1"/>
                </a:solidFill>
              </a:rPr>
              <a:t> PostgreSQL / MySQL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E48FC06-8B23-4BED-30A0-EB742DC9C3DF}"/>
              </a:ext>
            </a:extLst>
          </p:cNvPr>
          <p:cNvSpPr/>
          <p:nvPr/>
        </p:nvSpPr>
        <p:spPr>
          <a:xfrm>
            <a:off x="371047" y="3852582"/>
            <a:ext cx="1696065" cy="140401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AI/ML:</a:t>
            </a:r>
            <a:r>
              <a:rPr lang="en-IN" sz="1600" dirty="0">
                <a:solidFill>
                  <a:schemeClr val="tx1"/>
                </a:solidFill>
              </a:rPr>
              <a:t> Python, NLP &amp; skill-matching algorithms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BC1829-4FDA-94F5-DEC7-3EE655E216DA}"/>
              </a:ext>
            </a:extLst>
          </p:cNvPr>
          <p:cNvSpPr txBox="1"/>
          <p:nvPr/>
        </p:nvSpPr>
        <p:spPr>
          <a:xfrm>
            <a:off x="7244752" y="1826441"/>
            <a:ext cx="433764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/>
              <a:t>Student/Faculty/Industry Data</a:t>
            </a:r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161863-0110-BA75-0086-D8665B02F829}"/>
              </a:ext>
            </a:extLst>
          </p:cNvPr>
          <p:cNvSpPr txBox="1"/>
          <p:nvPr/>
        </p:nvSpPr>
        <p:spPr>
          <a:xfrm>
            <a:off x="7561834" y="1217982"/>
            <a:ext cx="372804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/>
              <a:t>METHODOLOGY &amp; IMPLEMENTATION</a:t>
            </a:r>
            <a:endParaRPr lang="en-I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BB2EA8-43CE-13D0-CDA1-A6B13EAD1E9B}"/>
              </a:ext>
            </a:extLst>
          </p:cNvPr>
          <p:cNvSpPr txBox="1"/>
          <p:nvPr/>
        </p:nvSpPr>
        <p:spPr>
          <a:xfrm>
            <a:off x="9618780" y="4986997"/>
            <a:ext cx="2047707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Internship/Job Recommendation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61606A4-E239-64F9-4839-53D123983322}"/>
              </a:ext>
            </a:extLst>
          </p:cNvPr>
          <p:cNvSpPr txBox="1"/>
          <p:nvPr/>
        </p:nvSpPr>
        <p:spPr>
          <a:xfrm>
            <a:off x="7244753" y="2490086"/>
            <a:ext cx="2017374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Skill Extraction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D38880-C3AA-48DA-256A-22456352C74C}"/>
              </a:ext>
            </a:extLst>
          </p:cNvPr>
          <p:cNvSpPr txBox="1"/>
          <p:nvPr/>
        </p:nvSpPr>
        <p:spPr>
          <a:xfrm>
            <a:off x="9676904" y="2468539"/>
            <a:ext cx="190549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Skill Mapping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CBAD10-9DFE-5E46-DC7D-2B8DDC923E33}"/>
              </a:ext>
            </a:extLst>
          </p:cNvPr>
          <p:cNvSpPr txBox="1"/>
          <p:nvPr/>
        </p:nvSpPr>
        <p:spPr>
          <a:xfrm>
            <a:off x="9676905" y="3171070"/>
            <a:ext cx="190549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AI Match Score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74B138-B07C-FCC4-7CC5-5BC53DCBF221}"/>
              </a:ext>
            </a:extLst>
          </p:cNvPr>
          <p:cNvSpPr txBox="1"/>
          <p:nvPr/>
        </p:nvSpPr>
        <p:spPr>
          <a:xfrm>
            <a:off x="7244752" y="3206921"/>
            <a:ext cx="201737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Skill Gap Analysis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6EF91E-F6CD-A5B4-28CB-33C0D3952D2F}"/>
              </a:ext>
            </a:extLst>
          </p:cNvPr>
          <p:cNvSpPr txBox="1"/>
          <p:nvPr/>
        </p:nvSpPr>
        <p:spPr>
          <a:xfrm>
            <a:off x="7244753" y="3950324"/>
            <a:ext cx="2017374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Skill Gap Analysis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E62A90-26AA-7742-A9B4-AA3B74D27CEB}"/>
              </a:ext>
            </a:extLst>
          </p:cNvPr>
          <p:cNvSpPr txBox="1"/>
          <p:nvPr/>
        </p:nvSpPr>
        <p:spPr>
          <a:xfrm>
            <a:off x="7166303" y="5763936"/>
            <a:ext cx="219677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Analytics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4AEE005-F34E-02FA-C899-7482547CDA07}"/>
              </a:ext>
            </a:extLst>
          </p:cNvPr>
          <p:cNvSpPr txBox="1"/>
          <p:nvPr/>
        </p:nvSpPr>
        <p:spPr>
          <a:xfrm>
            <a:off x="7166303" y="4992267"/>
            <a:ext cx="2095824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Application Tracking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84509F-D836-1E2E-8182-9A20D8EC9DC4}"/>
              </a:ext>
            </a:extLst>
          </p:cNvPr>
          <p:cNvSpPr txBox="1"/>
          <p:nvPr/>
        </p:nvSpPr>
        <p:spPr>
          <a:xfrm>
            <a:off x="9649112" y="3894819"/>
            <a:ext cx="2017375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Personalized Learning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35B6E65-40D8-A1D4-84A8-C27BF65437D3}"/>
              </a:ext>
            </a:extLst>
          </p:cNvPr>
          <p:cNvCxnSpPr/>
          <p:nvPr/>
        </p:nvCxnSpPr>
        <p:spPr>
          <a:xfrm>
            <a:off x="9363074" y="1587314"/>
            <a:ext cx="0" cy="23912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3EBBF42-BB7C-1422-2AB7-2E5190DFE2C7}"/>
              </a:ext>
            </a:extLst>
          </p:cNvPr>
          <p:cNvCxnSpPr/>
          <p:nvPr/>
        </p:nvCxnSpPr>
        <p:spPr>
          <a:xfrm>
            <a:off x="8195796" y="2229412"/>
            <a:ext cx="0" cy="23912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550435C-8AB8-5BF8-8C3C-F14ACE13325B}"/>
              </a:ext>
            </a:extLst>
          </p:cNvPr>
          <p:cNvCxnSpPr/>
          <p:nvPr/>
        </p:nvCxnSpPr>
        <p:spPr>
          <a:xfrm>
            <a:off x="10631381" y="2871510"/>
            <a:ext cx="0" cy="23912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3" name="Straight Arrow Connector 17412">
            <a:extLst>
              <a:ext uri="{FF2B5EF4-FFF2-40B4-BE49-F238E27FC236}">
                <a16:creationId xmlns:a16="http://schemas.microsoft.com/office/drawing/2014/main" id="{11A96E30-AE5B-7F40-DD7D-E83D86E880AB}"/>
              </a:ext>
            </a:extLst>
          </p:cNvPr>
          <p:cNvCxnSpPr>
            <a:cxnSpLocks/>
          </p:cNvCxnSpPr>
          <p:nvPr/>
        </p:nvCxnSpPr>
        <p:spPr>
          <a:xfrm>
            <a:off x="8264622" y="5361599"/>
            <a:ext cx="0" cy="271729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5" name="Straight Arrow Connector 17414">
            <a:extLst>
              <a:ext uri="{FF2B5EF4-FFF2-40B4-BE49-F238E27FC236}">
                <a16:creationId xmlns:a16="http://schemas.microsoft.com/office/drawing/2014/main" id="{4528EF9E-06FF-963B-B04C-72505574F477}"/>
              </a:ext>
            </a:extLst>
          </p:cNvPr>
          <p:cNvCxnSpPr/>
          <p:nvPr/>
        </p:nvCxnSpPr>
        <p:spPr>
          <a:xfrm>
            <a:off x="8264622" y="3576253"/>
            <a:ext cx="0" cy="23912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6" name="Straight Arrow Connector 17415">
            <a:extLst>
              <a:ext uri="{FF2B5EF4-FFF2-40B4-BE49-F238E27FC236}">
                <a16:creationId xmlns:a16="http://schemas.microsoft.com/office/drawing/2014/main" id="{FE90E713-3512-0043-0478-98ACD08F8C79}"/>
              </a:ext>
            </a:extLst>
          </p:cNvPr>
          <p:cNvCxnSpPr>
            <a:cxnSpLocks/>
          </p:cNvCxnSpPr>
          <p:nvPr/>
        </p:nvCxnSpPr>
        <p:spPr>
          <a:xfrm>
            <a:off x="10677779" y="4541150"/>
            <a:ext cx="0" cy="32581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Straight Arrow Connector 17420">
            <a:extLst>
              <a:ext uri="{FF2B5EF4-FFF2-40B4-BE49-F238E27FC236}">
                <a16:creationId xmlns:a16="http://schemas.microsoft.com/office/drawing/2014/main" id="{C910A394-2193-DA77-B26A-EC95B96192DA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 flipV="1">
            <a:off x="9262127" y="2653205"/>
            <a:ext cx="414777" cy="2154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Straight Arrow Connector 17421">
            <a:extLst>
              <a:ext uri="{FF2B5EF4-FFF2-40B4-BE49-F238E27FC236}">
                <a16:creationId xmlns:a16="http://schemas.microsoft.com/office/drawing/2014/main" id="{850D57E4-060F-A721-4B1C-C31CFAB14BCD}"/>
              </a:ext>
            </a:extLst>
          </p:cNvPr>
          <p:cNvCxnSpPr/>
          <p:nvPr/>
        </p:nvCxnSpPr>
        <p:spPr>
          <a:xfrm flipV="1">
            <a:off x="9247834" y="4113443"/>
            <a:ext cx="414777" cy="21547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5" name="Straight Arrow Connector 17424">
            <a:extLst>
              <a:ext uri="{FF2B5EF4-FFF2-40B4-BE49-F238E27FC236}">
                <a16:creationId xmlns:a16="http://schemas.microsoft.com/office/drawing/2014/main" id="{FD47B096-2056-9805-F443-A1520726EB19}"/>
              </a:ext>
            </a:extLst>
          </p:cNvPr>
          <p:cNvCxnSpPr>
            <a:stCxn id="50" idx="1"/>
            <a:endCxn id="51" idx="3"/>
          </p:cNvCxnSpPr>
          <p:nvPr/>
        </p:nvCxnSpPr>
        <p:spPr>
          <a:xfrm flipH="1">
            <a:off x="9262127" y="3355736"/>
            <a:ext cx="414778" cy="35851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6" name="Straight Arrow Connector 17425">
            <a:extLst>
              <a:ext uri="{FF2B5EF4-FFF2-40B4-BE49-F238E27FC236}">
                <a16:creationId xmlns:a16="http://schemas.microsoft.com/office/drawing/2014/main" id="{98017539-DFC4-5528-EF3D-F4DC0B29A22E}"/>
              </a:ext>
            </a:extLst>
          </p:cNvPr>
          <p:cNvCxnSpPr>
            <a:cxnSpLocks/>
          </p:cNvCxnSpPr>
          <p:nvPr/>
        </p:nvCxnSpPr>
        <p:spPr>
          <a:xfrm flipH="1">
            <a:off x="9262126" y="5205199"/>
            <a:ext cx="356654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31" name="Picture 17430">
            <a:extLst>
              <a:ext uri="{FF2B5EF4-FFF2-40B4-BE49-F238E27FC236}">
                <a16:creationId xmlns:a16="http://schemas.microsoft.com/office/drawing/2014/main" id="{DA6767E8-4E84-87A2-77B4-20CC94D56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36" y="6089256"/>
            <a:ext cx="1696065" cy="374322"/>
          </a:xfrm>
          <a:prstGeom prst="rect">
            <a:avLst/>
          </a:prstGeom>
        </p:spPr>
      </p:pic>
      <p:pic>
        <p:nvPicPr>
          <p:cNvPr id="17433" name="Picture 17432">
            <a:extLst>
              <a:ext uri="{FF2B5EF4-FFF2-40B4-BE49-F238E27FC236}">
                <a16:creationId xmlns:a16="http://schemas.microsoft.com/office/drawing/2014/main" id="{271DD1FF-61B2-404A-18E6-A1548D7A5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8672" y="6042341"/>
            <a:ext cx="3319565" cy="430365"/>
          </a:xfrm>
          <a:prstGeom prst="rect">
            <a:avLst/>
          </a:prstGeom>
        </p:spPr>
      </p:pic>
      <p:pic>
        <p:nvPicPr>
          <p:cNvPr id="17435" name="Picture 17434">
            <a:extLst>
              <a:ext uri="{FF2B5EF4-FFF2-40B4-BE49-F238E27FC236}">
                <a16:creationId xmlns:a16="http://schemas.microsoft.com/office/drawing/2014/main" id="{7BCB7B7E-B8F9-A528-A380-7999D15104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3244" y="6042341"/>
            <a:ext cx="604424" cy="475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09C4CE-5855-74D3-8602-5A48442C1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013" y="126288"/>
            <a:ext cx="1868357" cy="857341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3ADC7AAF-46DD-C1B4-6505-30A204E63E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15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Catalyst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7E59DB-5EE9-DC3C-EA35-BE4FF1A6294D}"/>
              </a:ext>
            </a:extLst>
          </p:cNvPr>
          <p:cNvSpPr/>
          <p:nvPr/>
        </p:nvSpPr>
        <p:spPr>
          <a:xfrm>
            <a:off x="427703" y="2032690"/>
            <a:ext cx="2718620" cy="32446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9C0420-625E-2F94-41D4-D40FABDCD79F}"/>
              </a:ext>
            </a:extLst>
          </p:cNvPr>
          <p:cNvSpPr/>
          <p:nvPr/>
        </p:nvSpPr>
        <p:spPr>
          <a:xfrm>
            <a:off x="8170605" y="2020401"/>
            <a:ext cx="2718620" cy="32446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545DF1-60E6-3F50-7895-C3E8F112FF5D}"/>
              </a:ext>
            </a:extLst>
          </p:cNvPr>
          <p:cNvSpPr/>
          <p:nvPr/>
        </p:nvSpPr>
        <p:spPr>
          <a:xfrm>
            <a:off x="4395019" y="2020402"/>
            <a:ext cx="2718620" cy="32446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11B96E-5CAF-E8C8-B17B-F7828D3285A5}"/>
              </a:ext>
            </a:extLst>
          </p:cNvPr>
          <p:cNvSpPr/>
          <p:nvPr/>
        </p:nvSpPr>
        <p:spPr>
          <a:xfrm>
            <a:off x="845574" y="1580665"/>
            <a:ext cx="2718620" cy="32446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FF5D07-920F-1A70-5CA1-9DBEE0A13734}"/>
              </a:ext>
            </a:extLst>
          </p:cNvPr>
          <p:cNvSpPr/>
          <p:nvPr/>
        </p:nvSpPr>
        <p:spPr>
          <a:xfrm>
            <a:off x="8627808" y="1580664"/>
            <a:ext cx="2718620" cy="32446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A29007-4691-4CA4-28D6-4CC0BDB3BEFA}"/>
              </a:ext>
            </a:extLst>
          </p:cNvPr>
          <p:cNvSpPr/>
          <p:nvPr/>
        </p:nvSpPr>
        <p:spPr>
          <a:xfrm>
            <a:off x="4812890" y="1592953"/>
            <a:ext cx="2718620" cy="32446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8F7FF96-F865-8203-E2FF-2C87824B526C}"/>
              </a:ext>
            </a:extLst>
          </p:cNvPr>
          <p:cNvSpPr/>
          <p:nvPr/>
        </p:nvSpPr>
        <p:spPr>
          <a:xfrm>
            <a:off x="1005544" y="1762430"/>
            <a:ext cx="410301" cy="38686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AC82352-EA4F-7FE8-FC81-854E7F4054D4}"/>
              </a:ext>
            </a:extLst>
          </p:cNvPr>
          <p:cNvSpPr/>
          <p:nvPr/>
        </p:nvSpPr>
        <p:spPr>
          <a:xfrm>
            <a:off x="8874939" y="1750142"/>
            <a:ext cx="410301" cy="38686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CA25AD-4D38-80A5-EA8B-704C0A90012C}"/>
              </a:ext>
            </a:extLst>
          </p:cNvPr>
          <p:cNvSpPr/>
          <p:nvPr/>
        </p:nvSpPr>
        <p:spPr>
          <a:xfrm>
            <a:off x="5062678" y="1750141"/>
            <a:ext cx="410301" cy="38686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3D94D9-7565-96A4-B9BF-F0C01F3DE2B7}"/>
              </a:ext>
            </a:extLst>
          </p:cNvPr>
          <p:cNvSpPr/>
          <p:nvPr/>
        </p:nvSpPr>
        <p:spPr>
          <a:xfrm>
            <a:off x="8588476" y="1790877"/>
            <a:ext cx="3004885" cy="3868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🛡️ MITIGATION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4BD0E7-E4A5-0937-68BD-AE2D4E3A00FB}"/>
              </a:ext>
            </a:extLst>
          </p:cNvPr>
          <p:cNvSpPr/>
          <p:nvPr/>
        </p:nvSpPr>
        <p:spPr>
          <a:xfrm>
            <a:off x="690913" y="1762430"/>
            <a:ext cx="3270355" cy="3868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⚙️ FEASIBILITY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B107D7-3249-DAE1-3504-6B50A704BDAB}"/>
              </a:ext>
            </a:extLst>
          </p:cNvPr>
          <p:cNvSpPr/>
          <p:nvPr/>
        </p:nvSpPr>
        <p:spPr>
          <a:xfrm>
            <a:off x="4925960" y="1770433"/>
            <a:ext cx="3004885" cy="3868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⚠️ CHALLENGES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AC4244-A80D-0BCF-A3B1-ADFCE1F96CA4}"/>
              </a:ext>
            </a:extLst>
          </p:cNvPr>
          <p:cNvSpPr/>
          <p:nvPr/>
        </p:nvSpPr>
        <p:spPr>
          <a:xfrm>
            <a:off x="5026939" y="1592953"/>
            <a:ext cx="2374096" cy="3107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dirty="0">
                <a:solidFill>
                  <a:schemeClr val="tx1"/>
                </a:solidFill>
              </a:rPr>
              <a:t>📊 </a:t>
            </a:r>
            <a:r>
              <a:rPr lang="en-IN" b="1" dirty="0">
                <a:solidFill>
                  <a:schemeClr val="tx1"/>
                </a:solidFill>
              </a:rPr>
              <a:t>Data Quality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🤖 </a:t>
            </a:r>
            <a:r>
              <a:rPr lang="en-IN" b="1" dirty="0">
                <a:solidFill>
                  <a:schemeClr val="tx1"/>
                </a:solidFill>
              </a:rPr>
              <a:t>AI Accuracy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🔐 </a:t>
            </a:r>
            <a:r>
              <a:rPr lang="en-IN" b="1" dirty="0">
                <a:solidFill>
                  <a:schemeClr val="tx1"/>
                </a:solidFill>
              </a:rPr>
              <a:t>Data Privacy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🤝 </a:t>
            </a:r>
            <a:r>
              <a:rPr lang="en-IN" b="1" dirty="0">
                <a:solidFill>
                  <a:schemeClr val="tx1"/>
                </a:solidFill>
              </a:rPr>
              <a:t>Industry Adoption</a:t>
            </a:r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5DAD3F-987B-7A9F-6522-312AD3CDFDB1}"/>
              </a:ext>
            </a:extLst>
          </p:cNvPr>
          <p:cNvSpPr/>
          <p:nvPr/>
        </p:nvSpPr>
        <p:spPr>
          <a:xfrm>
            <a:off x="845574" y="2020401"/>
            <a:ext cx="2871018" cy="28171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dirty="0">
                <a:solidFill>
                  <a:schemeClr val="tx1"/>
                </a:solidFill>
              </a:rPr>
              <a:t>💻 </a:t>
            </a:r>
            <a:r>
              <a:rPr lang="en-IN" b="1" dirty="0">
                <a:solidFill>
                  <a:schemeClr val="tx1"/>
                </a:solidFill>
              </a:rPr>
              <a:t>Tech Ready</a:t>
            </a:r>
            <a:r>
              <a:rPr lang="en-IN" dirty="0">
                <a:solidFill>
                  <a:schemeClr val="tx1"/>
                </a:solidFill>
              </a:rPr>
              <a:t> – Web + AI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📊 </a:t>
            </a:r>
            <a:r>
              <a:rPr lang="en-IN" b="1" dirty="0">
                <a:solidFill>
                  <a:schemeClr val="tx1"/>
                </a:solidFill>
              </a:rPr>
              <a:t>Data Driven</a:t>
            </a:r>
            <a:r>
              <a:rPr lang="en-IN" dirty="0">
                <a:solidFill>
                  <a:schemeClr val="tx1"/>
                </a:solidFill>
              </a:rPr>
              <a:t> – Skills &amp; Jobs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📈 </a:t>
            </a:r>
            <a:r>
              <a:rPr lang="en-IN" b="1" dirty="0">
                <a:solidFill>
                  <a:schemeClr val="tx1"/>
                </a:solidFill>
              </a:rPr>
              <a:t>Scalable</a:t>
            </a:r>
            <a:r>
              <a:rPr lang="en-IN" dirty="0">
                <a:solidFill>
                  <a:schemeClr val="tx1"/>
                </a:solidFill>
              </a:rPr>
              <a:t> – College → National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💰 </a:t>
            </a:r>
            <a:r>
              <a:rPr lang="en-IN" b="1" dirty="0">
                <a:solidFill>
                  <a:schemeClr val="tx1"/>
                </a:solidFill>
              </a:rPr>
              <a:t>Low Cost</a:t>
            </a:r>
            <a:r>
              <a:rPr lang="en-IN" dirty="0">
                <a:solidFill>
                  <a:schemeClr val="tx1"/>
                </a:solidFill>
              </a:rPr>
              <a:t> – Cloud Based 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497F04-E666-4112-6ED4-4A728AAC430B}"/>
              </a:ext>
            </a:extLst>
          </p:cNvPr>
          <p:cNvSpPr/>
          <p:nvPr/>
        </p:nvSpPr>
        <p:spPr>
          <a:xfrm>
            <a:off x="8737600" y="1902623"/>
            <a:ext cx="2790719" cy="2798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dirty="0">
                <a:solidFill>
                  <a:schemeClr val="tx1"/>
                </a:solidFill>
              </a:rPr>
              <a:t>🔄 </a:t>
            </a:r>
            <a:r>
              <a:rPr lang="en-IN" b="1" dirty="0">
                <a:solidFill>
                  <a:schemeClr val="tx1"/>
                </a:solidFill>
              </a:rPr>
              <a:t>Regular Data Updates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🧠 </a:t>
            </a:r>
            <a:r>
              <a:rPr lang="en-IN" b="1" dirty="0">
                <a:solidFill>
                  <a:schemeClr val="tx1"/>
                </a:solidFill>
              </a:rPr>
              <a:t>AI + Feedback Loop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🔒 </a:t>
            </a:r>
            <a:r>
              <a:rPr lang="en-IN" b="1" dirty="0">
                <a:solidFill>
                  <a:schemeClr val="tx1"/>
                </a:solidFill>
              </a:rPr>
              <a:t>Secure Access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lvl="0"/>
            <a:r>
              <a:rPr lang="en-IN" dirty="0">
                <a:solidFill>
                  <a:schemeClr val="tx1"/>
                </a:solidFill>
              </a:rPr>
              <a:t>🤝 </a:t>
            </a:r>
            <a:r>
              <a:rPr lang="en-IN" b="1" dirty="0">
                <a:solidFill>
                  <a:schemeClr val="tx1"/>
                </a:solidFill>
              </a:rPr>
              <a:t>Pilot + Partnerships</a:t>
            </a:r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BABF1D-5294-ADC0-22D9-D8CE767893BC}"/>
              </a:ext>
            </a:extLst>
          </p:cNvPr>
          <p:cNvSpPr/>
          <p:nvPr/>
        </p:nvSpPr>
        <p:spPr>
          <a:xfrm>
            <a:off x="329772" y="5780743"/>
            <a:ext cx="11198547" cy="5882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👨‍🎓 Student Data → 🤖 AI Matching → 📊 Skill Gap → 📚 Learning → 💼 Jobs/Internships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323468CD-EFE1-ABA4-8157-66EF516AED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15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Catalyst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B7191C-1FE6-D36C-F9DE-898B7B790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013" y="126288"/>
            <a:ext cx="1868357" cy="8573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726A8E-401C-51B1-D96D-0FBDD5A684D6}"/>
              </a:ext>
            </a:extLst>
          </p:cNvPr>
          <p:cNvSpPr txBox="1"/>
          <p:nvPr/>
        </p:nvSpPr>
        <p:spPr>
          <a:xfrm>
            <a:off x="609600" y="1593008"/>
            <a:ext cx="410497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🎯 Potential Impact on Target Audience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E9D4F3-97DB-647E-9E71-2D55014901A7}"/>
              </a:ext>
            </a:extLst>
          </p:cNvPr>
          <p:cNvSpPr/>
          <p:nvPr/>
        </p:nvSpPr>
        <p:spPr>
          <a:xfrm>
            <a:off x="609600" y="2212667"/>
            <a:ext cx="4306531" cy="2989007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b="1" dirty="0"/>
              <a:t>Students:</a:t>
            </a:r>
            <a:r>
              <a:rPr lang="en-IN" dirty="0"/>
              <a:t> Better career and skill alignment </a:t>
            </a:r>
          </a:p>
          <a:p>
            <a:pPr lvl="0"/>
            <a:r>
              <a:rPr lang="en-IN" b="1" dirty="0"/>
              <a:t>Institutions:</a:t>
            </a:r>
            <a:r>
              <a:rPr lang="en-IN" dirty="0"/>
              <a:t> Data-driven skill development </a:t>
            </a:r>
          </a:p>
          <a:p>
            <a:pPr lvl="0"/>
            <a:r>
              <a:rPr lang="en-IN" b="1" dirty="0"/>
              <a:t>Industry:</a:t>
            </a:r>
            <a:r>
              <a:rPr lang="en-IN" dirty="0"/>
              <a:t> Faster access to relevant talent </a:t>
            </a:r>
          </a:p>
          <a:p>
            <a:pPr lvl="0"/>
            <a:r>
              <a:rPr lang="en-IN" b="1" dirty="0"/>
              <a:t>All stakeholders:</a:t>
            </a:r>
            <a:r>
              <a:rPr lang="en-IN" dirty="0"/>
              <a:t> Stronger academia–industry collaboration </a:t>
            </a:r>
          </a:p>
          <a:p>
            <a:pPr lvl="0"/>
            <a:r>
              <a:rPr lang="en-IN" b="1" dirty="0"/>
              <a:t>Long-term:</a:t>
            </a:r>
            <a:r>
              <a:rPr lang="en-IN" dirty="0"/>
              <a:t> Improved employability and placement outcomes </a:t>
            </a:r>
          </a:p>
          <a:p>
            <a:pPr lvl="0"/>
            <a:r>
              <a:rPr lang="en-IN" b="1" dirty="0"/>
              <a:t>Nationwide:</a:t>
            </a:r>
            <a:r>
              <a:rPr lang="en-IN" dirty="0"/>
              <a:t> Reduced academia–industry skill gap</a:t>
            </a:r>
          </a:p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6711B3-25CE-56AD-AC25-A45B2B19477A}"/>
              </a:ext>
            </a:extLst>
          </p:cNvPr>
          <p:cNvSpPr txBox="1"/>
          <p:nvPr/>
        </p:nvSpPr>
        <p:spPr>
          <a:xfrm>
            <a:off x="2851355" y="53389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A75CB9-501E-D7BA-AA24-B618D6805492}"/>
              </a:ext>
            </a:extLst>
          </p:cNvPr>
          <p:cNvSpPr txBox="1"/>
          <p:nvPr/>
        </p:nvSpPr>
        <p:spPr>
          <a:xfrm>
            <a:off x="6250200" y="1593008"/>
            <a:ext cx="410497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💡 Benefits of the Solution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0B95FA-EE88-FA1E-8869-356C97C3D3B8}"/>
              </a:ext>
            </a:extLst>
          </p:cNvPr>
          <p:cNvSpPr/>
          <p:nvPr/>
        </p:nvSpPr>
        <p:spPr>
          <a:xfrm>
            <a:off x="5959091" y="2154765"/>
            <a:ext cx="2889911" cy="172484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/>
              <a:t>Social</a:t>
            </a:r>
            <a:endParaRPr lang="en-IN" sz="1600" dirty="0"/>
          </a:p>
          <a:p>
            <a:pPr lvl="0"/>
            <a:r>
              <a:rPr lang="en-IN" sz="1600" dirty="0"/>
              <a:t>1. Better career opportunities </a:t>
            </a:r>
          </a:p>
          <a:p>
            <a:pPr lvl="0"/>
            <a:r>
              <a:rPr lang="en-IN" sz="1600" dirty="0"/>
              <a:t>2. Increased youth employability </a:t>
            </a:r>
          </a:p>
          <a:p>
            <a:pPr lvl="0"/>
            <a:r>
              <a:rPr lang="en-IN" sz="1600" dirty="0"/>
              <a:t>3. Reduced skill mismatch </a:t>
            </a:r>
          </a:p>
          <a:p>
            <a:pPr lvl="0"/>
            <a:r>
              <a:rPr lang="en-IN" sz="1600" dirty="0"/>
              <a:t>4. Equal access to career guidance</a:t>
            </a:r>
          </a:p>
          <a:p>
            <a:pPr lvl="0"/>
            <a:endParaRPr lang="en-IN" sz="1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4E371F-7B0E-FE1D-B4C0-2F0661881A82}"/>
              </a:ext>
            </a:extLst>
          </p:cNvPr>
          <p:cNvSpPr/>
          <p:nvPr/>
        </p:nvSpPr>
        <p:spPr>
          <a:xfrm>
            <a:off x="5959091" y="4147638"/>
            <a:ext cx="2889911" cy="1724842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/>
              <a:t>Educational</a:t>
            </a:r>
            <a:endParaRPr lang="en-IN" sz="1600" dirty="0"/>
          </a:p>
          <a:p>
            <a:pPr lvl="0"/>
            <a:r>
              <a:rPr lang="en-IN" sz="1600" dirty="0"/>
              <a:t>1. Industry-aligned curriculum </a:t>
            </a:r>
          </a:p>
          <a:p>
            <a:pPr lvl="0"/>
            <a:r>
              <a:rPr lang="en-IN" sz="1600" dirty="0"/>
              <a:t>2. Real-time skill-demand insights </a:t>
            </a:r>
          </a:p>
          <a:p>
            <a:pPr lvl="0"/>
            <a:r>
              <a:rPr lang="en-IN" sz="1600" dirty="0"/>
              <a:t>3. Personalized learning paths </a:t>
            </a:r>
          </a:p>
          <a:p>
            <a:pPr lvl="0"/>
            <a:r>
              <a:rPr lang="en-IN" sz="1600" dirty="0"/>
              <a:t>4. Better placement readiness</a:t>
            </a:r>
          </a:p>
          <a:p>
            <a:pPr lvl="0"/>
            <a:endParaRPr lang="en-IN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2690E7-6F57-33CD-2BD1-011A4EE7420D}"/>
              </a:ext>
            </a:extLst>
          </p:cNvPr>
          <p:cNvSpPr/>
          <p:nvPr/>
        </p:nvSpPr>
        <p:spPr>
          <a:xfrm>
            <a:off x="9116459" y="4147637"/>
            <a:ext cx="2889911" cy="1724843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/>
              <a:t>Environmental</a:t>
            </a:r>
            <a:endParaRPr lang="en-IN" sz="1600" dirty="0"/>
          </a:p>
          <a:p>
            <a:pPr lvl="0"/>
            <a:r>
              <a:rPr lang="en-IN" sz="1600" dirty="0"/>
              <a:t>1. Reduced paperwork </a:t>
            </a:r>
          </a:p>
          <a:p>
            <a:pPr lvl="0"/>
            <a:r>
              <a:rPr lang="en-IN" sz="1600" dirty="0"/>
              <a:t>2.  Digital-first access </a:t>
            </a:r>
          </a:p>
          <a:p>
            <a:pPr lvl="0"/>
            <a:r>
              <a:rPr lang="en-IN" sz="1600" dirty="0"/>
              <a:t>3. Fewer unnecessary physical visits</a:t>
            </a:r>
          </a:p>
          <a:p>
            <a:pPr lvl="0"/>
            <a:endParaRPr lang="en-IN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C1EB5E-9631-D6C7-0D37-31BDC231023F}"/>
              </a:ext>
            </a:extLst>
          </p:cNvPr>
          <p:cNvSpPr/>
          <p:nvPr/>
        </p:nvSpPr>
        <p:spPr>
          <a:xfrm>
            <a:off x="9074354" y="2136717"/>
            <a:ext cx="2932016" cy="1747567"/>
          </a:xfrm>
          <a:prstGeom prst="rect">
            <a:avLst/>
          </a:prstGeom>
          <a:ln/>
          <a:effectLst>
            <a:glow rad="1016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/>
              <a:t>Economic</a:t>
            </a:r>
            <a:endParaRPr lang="en-IN" sz="1600" dirty="0"/>
          </a:p>
          <a:p>
            <a:pPr lvl="0"/>
            <a:r>
              <a:rPr lang="en-IN" sz="1600" dirty="0"/>
              <a:t>1. Reduced hiring time and cost </a:t>
            </a:r>
          </a:p>
          <a:p>
            <a:pPr lvl="0"/>
            <a:r>
              <a:rPr lang="en-IN" sz="1600" dirty="0"/>
              <a:t>2. Better talent utilization </a:t>
            </a:r>
          </a:p>
          <a:p>
            <a:pPr lvl="0"/>
            <a:r>
              <a:rPr lang="en-IN" sz="1600" dirty="0"/>
              <a:t>3. Improved workforce productivity </a:t>
            </a:r>
          </a:p>
          <a:p>
            <a:pPr lvl="0"/>
            <a:r>
              <a:rPr lang="en-IN" sz="1600" dirty="0"/>
              <a:t>4. Efficient recruitment pipeline</a:t>
            </a:r>
          </a:p>
          <a:p>
            <a:pPr lvl="0"/>
            <a:endParaRPr lang="en-IN" sz="1600" dirty="0"/>
          </a:p>
        </p:txBody>
      </p:sp>
      <p:pic>
        <p:nvPicPr>
          <p:cNvPr id="30" name="Graphic 29" descr="Target Audience with solid fill">
            <a:extLst>
              <a:ext uri="{FF2B5EF4-FFF2-40B4-BE49-F238E27FC236}">
                <a16:creationId xmlns:a16="http://schemas.microsoft.com/office/drawing/2014/main" id="{58ECA1BE-7491-BD43-8A30-75C84E3F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4963" y="1510918"/>
            <a:ext cx="647422" cy="576586"/>
          </a:xfrm>
          <a:prstGeom prst="rect">
            <a:avLst/>
          </a:prstGeom>
        </p:spPr>
      </p:pic>
      <p:pic>
        <p:nvPicPr>
          <p:cNvPr id="32" name="Graphic 31" descr="Head with gears with solid fill">
            <a:extLst>
              <a:ext uri="{FF2B5EF4-FFF2-40B4-BE49-F238E27FC236}">
                <a16:creationId xmlns:a16="http://schemas.microsoft.com/office/drawing/2014/main" id="{09083350-08DA-6DF8-71EB-586BE5D235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54640" y="1522355"/>
            <a:ext cx="497840" cy="49784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39F5A2F-42AB-A521-5504-7C34F11536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441" y="5536783"/>
            <a:ext cx="5197290" cy="3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E35A3B-E3F6-D14C-B5B2-5ACBE8CE89F8}"/>
              </a:ext>
            </a:extLst>
          </p:cNvPr>
          <p:cNvSpPr/>
          <p:nvPr/>
        </p:nvSpPr>
        <p:spPr>
          <a:xfrm>
            <a:off x="787730" y="1302988"/>
            <a:ext cx="10794670" cy="49574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National Education Policy (NEP) 2020 – Ministry of Education, Government of India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National Education Policy 2020 – Official PDF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Ministry of Ayush – Government of India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Ministry of Ayush – Official Website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Skill Development &amp; Employability – </a:t>
            </a:r>
            <a:r>
              <a:rPr lang="en-IN" b="1" dirty="0" err="1">
                <a:solidFill>
                  <a:schemeClr val="tx1"/>
                </a:solidFill>
              </a:rPr>
              <a:t>MoE</a:t>
            </a:r>
            <a:r>
              <a:rPr lang="en-IN" b="1" dirty="0">
                <a:solidFill>
                  <a:schemeClr val="tx1"/>
                </a:solidFill>
              </a:rPr>
              <a:t>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https://www.education.gov.in/sites/upload_files/mhrd/files/nep/ABSS_Brochure_2022.pdf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India Employment Report 2024 – ILO &amp; IHD: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https://www.ilo.org/publications/india-employment-report-2024-youth-employment-education-and-skills</a:t>
            </a:r>
            <a:endParaRPr lang="en-IN" dirty="0">
              <a:solidFill>
                <a:schemeClr val="tx1"/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Global Employment Trends for Youth 2024 – ILO: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https://www.ilo.org/publications/major-publications/global-employment-trends-youth-2024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Shiksha </a:t>
            </a:r>
            <a:r>
              <a:rPr lang="en-IN" b="1" dirty="0" err="1">
                <a:solidFill>
                  <a:schemeClr val="tx1"/>
                </a:solidFill>
              </a:rPr>
              <a:t>Samagam</a:t>
            </a:r>
            <a:r>
              <a:rPr lang="en-IN" b="1" dirty="0">
                <a:solidFill>
                  <a:schemeClr val="tx1"/>
                </a:solidFill>
              </a:rPr>
              <a:t> – Industry–Academia Collaboration: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https://www.education.gov.in/sites/upload_files/mhrd/files/nep/ABSS_2024_Outcome_Document.pdf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878D98-C914-3515-583C-C08E386D38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8013" y="126288"/>
            <a:ext cx="1868357" cy="857341"/>
          </a:xfrm>
          <a:prstGeom prst="rect">
            <a:avLst/>
          </a:prstGeom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2AA8A47A-34FA-1DC6-9B03-6B81445143F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5154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Code Catalyst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7695</TotalTime>
  <Words>691</Words>
  <Application>Microsoft Office PowerPoint</Application>
  <PresentationFormat>Widescreen</PresentationFormat>
  <Paragraphs>123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Vivek Kumar</cp:lastModifiedBy>
  <cp:revision>150</cp:revision>
  <dcterms:created xsi:type="dcterms:W3CDTF">2013-12-12T18:46:50Z</dcterms:created>
  <dcterms:modified xsi:type="dcterms:W3CDTF">2026-09-09T21:47:01Z</dcterms:modified>
  <cp:category/>
</cp:coreProperties>
</file>